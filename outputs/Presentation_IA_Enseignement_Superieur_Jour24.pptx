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4495E27F-A6FA-8C70-5210-861977B0B605}">
          <p14:sldIdLst>
            <p14:sldId id="256"/>
          </p14:sldIdLst>
        </p14:section>
        <p14:section name="Déploiement" id="{37808FDB-1AFA-2488-5BAC-5274D914371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64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Mini-projet Jour 24 : même agent d'admission HITL (Jour 23) déployé en 4 modes, avec simulation et surveillance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B9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F80"/>
                </a:solidFill>
              </a:rPr>
              <a:t>EduAgent — Jour 24 · IA enseignement supérieur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IA en enseignement supérieur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BF5"/>
                </a:solidFill>
              </a:rPr>
              <a:t>Déploiement de l'agent d'admission : Batch, Real-Time, Streaming, Edge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61002" y="317202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Kamal EL AFOUI· 29 octobre 2026</a:t>
            </a:r>
            <a:endParaRPr lang="en-US" sz="1200" dirty="0"/>
          </a:p>
        </p:txBody>
      </p:sp>
      <p:pic>
        <p:nvPicPr>
          <p:cNvPr id="8" name="logo-1" descr="preencoded.png">
            <a:extLst>
              <a:ext uri="{FF2B5EF4-FFF2-40B4-BE49-F238E27FC236}">
                <a16:creationId xmlns:a16="http://schemas.microsoft.com/office/drawing/2014/main" id="{1BF03728-8AE9-80C1-926D-26F65B2E8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26" y="160020"/>
            <a:ext cx="758952" cy="777240"/>
          </a:xfrm>
          <a:prstGeom prst="rect">
            <a:avLst/>
          </a:prstGeom>
        </p:spPr>
      </p:pic>
      <p:pic>
        <p:nvPicPr>
          <p:cNvPr id="10" name="logo-2" descr="preencoded.png">
            <a:extLst>
              <a:ext uri="{FF2B5EF4-FFF2-40B4-BE49-F238E27FC236}">
                <a16:creationId xmlns:a16="http://schemas.microsoft.com/office/drawing/2014/main" id="{1E21A95B-3F25-90A0-70D7-D41D7FFB5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51460"/>
            <a:ext cx="1417320" cy="777240"/>
          </a:xfrm>
          <a:prstGeom prst="rect">
            <a:avLst/>
          </a:prstGeom>
        </p:spPr>
      </p:pic>
      <p:pic>
        <p:nvPicPr>
          <p:cNvPr id="12" name="Image 0" descr="Logo EduAgent">
            <a:extLst>
              <a:ext uri="{FF2B5EF4-FFF2-40B4-BE49-F238E27FC236}">
                <a16:creationId xmlns:a16="http://schemas.microsoft.com/office/drawing/2014/main" id="{41BC0B2A-A1F4-7450-A2C9-DD39BFAB9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10379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Pourquoi plusieurs modes de déploiement 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</a:rPr>
              <a:t>Les cas d'usage n'ont pas les mêmes exigences de latence, de volume et de connectivité : le mode dépend du besoin métier.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8016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600200"/>
            <a:ext cx="329184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Quand l'utiliser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600200"/>
            <a:ext cx="182880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Outils clés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600200"/>
            <a:ext cx="182880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Exemple EduAgent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11680"/>
            <a:ext cx="1280160" cy="530352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Batch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011680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Gros volumes à intervalles réguliers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011680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Airflow, Dagster, Prefect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011680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Classement nocturne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578608"/>
            <a:ext cx="1280160" cy="530352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Real-Time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578608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Réponse immédiate à une requête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578608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FastAPI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578608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Statut sur le portail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145536"/>
            <a:ext cx="1280160" cy="530352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Streaming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145536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Traitement continu d'un flux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145536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Kafka, Flink, Kinesis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145536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Pic à la clôture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12464"/>
            <a:ext cx="1280160" cy="530352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Edge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3712464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Exécution sur l'appareil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3712464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TF Lite, Core ML, ONNX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712464"/>
            <a:ext cx="1828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Jury sans réseau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Un même agent, quatre déploiements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</a:rPr>
              <a:t>Le scoring du Jour 23 (règles, seuil HITL = 70) est identique ; seul le mode d'exécution change.</a:t>
            </a:r>
            <a:endParaRPr lang="en-US" sz="1300" dirty="0"/>
          </a:p>
        </p:txBody>
      </p:sp>
      <p:sp>
        <p:nvSpPr>
          <p:cNvPr id="4" name="card-Batch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64008" cy="1371600"/>
          </a:xfrm>
          <a:prstGeom prst="rect">
            <a:avLst/>
          </a:prstGeom>
          <a:solidFill>
            <a:srgbClr val="7BB6DD"/>
          </a:solidFill>
          <a:ln w="12700">
            <a:solidFill>
              <a:srgbClr val="7BB6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Batch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019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</a:rPr>
              <a:t>Exécution planifiée (cron 02:00) ; lot CSV ; 16 workers ; remise batch supposée</a:t>
            </a:r>
            <a:endParaRPr lang="en-US" sz="1200" dirty="0"/>
          </a:p>
        </p:txBody>
      </p:sp>
      <p:sp>
        <p:nvSpPr>
          <p:cNvPr id="8" name="card-Real-Time"/>
          <p:cNvSpPr/>
          <p:nvPr/>
        </p:nvSpPr>
        <p:spPr>
          <a:xfrm>
            <a:off x="4663440" y="1463040"/>
            <a:ext cx="40233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63040"/>
            <a:ext cx="64008" cy="137160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Real-Time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019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</a:rPr>
              <a:t>POST /realtime/score ; clé API ; LLM cloud ; repli en revue manuelle</a:t>
            </a:r>
            <a:endParaRPr lang="en-US" sz="1200" dirty="0"/>
          </a:p>
        </p:txBody>
      </p:sp>
      <p:sp>
        <p:nvSpPr>
          <p:cNvPr id="12" name="card-Streaming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64008" cy="13716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Streaming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564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</a:rPr>
              <a:t>Topic Kafka ; micro-batch 500 ms ; 8 workers ; inference store</a:t>
            </a:r>
            <a:endParaRPr lang="en-US" sz="1200" dirty="0"/>
          </a:p>
        </p:txBody>
      </p:sp>
      <p:sp>
        <p:nvSpPr>
          <p:cNvPr id="16" name="card-Edge"/>
          <p:cNvSpPr/>
          <p:nvPr/>
        </p:nvSpPr>
        <p:spPr>
          <a:xfrm>
            <a:off x="4663440" y="3017520"/>
            <a:ext cx="40233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64008" cy="137160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Edge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4564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</a:rPr>
              <a:t>Règles sur l'appareil ; aucun réseau ; journal local synchronisé plus tard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Architecture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E036BE-445A-7C15-1079-C314851F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88276"/>
            <a:ext cx="7609489" cy="4039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Résultats de la simulation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005840"/>
            <a:ext cx="155448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Latence p95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173736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005840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Délai résultat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005840"/>
            <a:ext cx="173736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005840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Coût / 1 000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182880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Données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417320"/>
            <a:ext cx="1371600" cy="36576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real-time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1417320"/>
            <a:ext cx="15544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2287 ms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417320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1.72 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417320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0.0591 $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417320"/>
            <a:ext cx="18288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cloud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801368"/>
            <a:ext cx="1371600" cy="36576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batch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1801368"/>
            <a:ext cx="15544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2278.7 ms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1801368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12.1 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801368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0.0296 $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801368"/>
            <a:ext cx="18288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cloud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185416"/>
            <a:ext cx="1371600" cy="36576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streaming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2185416"/>
            <a:ext cx="15544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2621.4 ms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185416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1.96 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185416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0.0591 $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185416"/>
            <a:ext cx="18288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cloud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569464"/>
            <a:ext cx="1371600" cy="36576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3A"/>
                </a:solidFill>
              </a:rPr>
              <a:t>edge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828800" y="2569464"/>
            <a:ext cx="15544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5.8 ms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2569464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4.0 ms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2569464"/>
            <a:ext cx="1737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0.0000 $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569464"/>
            <a:ext cx="18288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</a:rPr>
              <a:t>sur l'appareil</a:t>
            </a:r>
            <a:endParaRPr lang="en-US" sz="1050" dirty="0"/>
          </a:p>
        </p:txBody>
      </p:sp>
      <p:pic>
        <p:nvPicPr>
          <p:cNvPr id="33" name="Image 0" descr="Comparaison des modes et dér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6675120" cy="1956816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7223760" y="3200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F80"/>
                </a:solidFill>
              </a:rPr>
              <a:t>Simulé : 2 000 dossiers, latences et remise batch modélisées.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Choisir le bon mode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3C5D"/>
                </a:solidFill>
              </a:rPr>
              <a:t>1. Pas de réseau ou confidentialité maximale → Edge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3C5D"/>
                </a:solidFill>
              </a:rPr>
              <a:t>2. Latence tolérée ≥ 1 h → Batch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3C5D"/>
                </a:solidFill>
              </a:rPr>
              <a:t>3. Flux continu et ≥ 100 000 / jour → Streaming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B3C5D"/>
                </a:solidFill>
              </a:rPr>
              <a:t>4. Sinon → Real-Time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Scénario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468880"/>
            <a:ext cx="128016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Outils clés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80360"/>
            <a:ext cx="4572000" cy="42976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A"/>
                </a:solidFill>
              </a:rPr>
              <a:t>Consultation du statut par les candidats sur le portail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880360"/>
            <a:ext cx="128016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real-time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880360"/>
            <a:ext cx="246888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API REST (FastAPI) conteneurisée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4572000" cy="42976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A"/>
                </a:solidFill>
              </a:rPr>
              <a:t>Classement nocturne de 5 000 dossiers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337560"/>
            <a:ext cx="128016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batch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337560"/>
            <a:ext cx="246888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Apache Airflow, Dagster, Prefect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4572000" cy="42976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A"/>
                </a:solidFill>
              </a:rPr>
              <a:t>Pic de dépôts à la clôture des candidatures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794760"/>
            <a:ext cx="128016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streaming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94760"/>
            <a:ext cx="246888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Apache Kafka, Apache Flink, AWS Kinesis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51960"/>
            <a:ext cx="4572000" cy="42976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A"/>
                </a:solidFill>
              </a:rPr>
              <a:t>Jury sur tablette, centre d'examen sans réseau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251960"/>
            <a:ext cx="128016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edge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51960"/>
            <a:ext cx="2468880" cy="429768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</a:rPr>
              <a:t>TensorFlow Lite, Core ML, ONNX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MLOps vs DevOps : la dérive silencieuse</a:t>
            </a:r>
            <a:endParaRPr lang="en-US" sz="2600" dirty="0"/>
          </a:p>
        </p:txBody>
      </p:sp>
      <p:sp>
        <p:nvSpPr>
          <p:cNvPr id="3" name="card-DevOps"/>
          <p:cNvSpPr/>
          <p:nvPr/>
        </p:nvSpPr>
        <p:spPr>
          <a:xfrm>
            <a:off x="457200" y="1005840"/>
            <a:ext cx="402336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5544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DevOps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</a:rPr>
              <a:t>Garantit que l'application fonctionne : code, CI/CD, tests, monitoring système.</a:t>
            </a:r>
            <a:endParaRPr lang="en-US" sz="1200" dirty="0"/>
          </a:p>
        </p:txBody>
      </p:sp>
      <p:sp>
        <p:nvSpPr>
          <p:cNvPr id="7" name="card-MLOps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1554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MLOps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4475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</a:rPr>
              <a:t>Garantit que l'application ET le modèle restent performants : données, CT, validation, monitoring de la performance IA.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62828"/>
                </a:solidFill>
              </a:rPr>
              <a:t>Rappel « risque élevé » : 94.7 % → 79.8 % en 6 semaines (simulé)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</a:rPr>
              <a:t>Alerte dès la semaine 5 (seuil 85 %). PSI max des scores : 0.0331 (seuil 0,2).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</a:rPr>
              <a:t>La dérive échappe au contrôle des seules distributions de données : il faut mesurer la performance sur les décisions humaines (boucle HITL).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Mise en production et sécurité</a:t>
            </a:r>
            <a:endParaRPr lang="en-US" sz="2600" dirty="0"/>
          </a:p>
        </p:txBody>
      </p:sp>
      <p:sp>
        <p:nvSpPr>
          <p:cNvPr id="3" name="card-Conteneurs et Cloud"/>
          <p:cNvSpPr/>
          <p:nvPr/>
        </p:nvSpPr>
        <p:spPr>
          <a:xfrm>
            <a:off x="457200" y="1005840"/>
            <a:ext cx="402336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274320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Conteneurs et Cloud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Dockerfile non-root + healthcheck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docker-compose : api + job batch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Azure Container Apps, Render, Railway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Edge : règles distribuées en SemVer, rollback</a:t>
            </a:r>
            <a:endParaRPr lang="en-US" sz="1200" dirty="0"/>
          </a:p>
        </p:txBody>
      </p:sp>
      <p:sp>
        <p:nvSpPr>
          <p:cNvPr id="7" name="card-Sécurité"/>
          <p:cNvSpPr/>
          <p:nvPr/>
        </p:nvSpPr>
        <p:spPr>
          <a:xfrm>
            <a:off x="4663440" y="1005840"/>
            <a:ext cx="402336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274320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Sécurité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44752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Secrets en variables d'environnement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Clé agent ≠ clé admin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Validation stricte des dossiers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</a:rPr>
              <a:t>Aucune donnée de contact envoyée au LLM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</a:rPr>
              <a:t>Monitoring observé (Pulse Layer, 28/10/2026) : flow j23_AgentsCards = 54,30 s pour 21 082 tokens → Batch ou asynchrone, pas Real-Time.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5D"/>
                </a:solidFill>
              </a:rPr>
              <a:t>Résultats et livrables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10515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B913"/>
                </a:solidFill>
              </a:rPr>
              <a:t>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modes déployés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965960" cy="10515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B913"/>
                </a:solidFill>
              </a:rPr>
              <a:t>12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tests réussis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965960" cy="10515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B913"/>
                </a:solidFill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scénarios validés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1965960" cy="10515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051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B913"/>
                </a:solidFill>
              </a:rPr>
              <a:t>S5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alerte de dérive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</a:rPr>
              <a:t>Workflow JSON · main.py · notebook exécuté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</a:rPr>
              <a:t>Architecture · dashboard HTML · documentation DOCX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</a:rPr>
              <a:t>Dockerfile · docker-compose · tests · CHANGELOG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</a:rPr>
              <a:t>Limites : latences, échecs et remise batch simulés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F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Agent">
  <a:themeElements>
    <a:clrScheme name="EduAgent">
      <a:dk1>
        <a:srgbClr val="1B2B3A"/>
      </a:dk1>
      <a:lt1>
        <a:srgbClr val="FFFFFF"/>
      </a:lt1>
      <a:dk2>
        <a:srgbClr val="0B3C5D"/>
      </a:dk2>
      <a:lt2>
        <a:srgbClr val="F4F7FA"/>
      </a:lt2>
      <a:accent1>
        <a:srgbClr val="0B3C5D"/>
      </a:accent1>
      <a:accent2>
        <a:srgbClr val="FDB913"/>
      </a:accent2>
      <a:accent3>
        <a:srgbClr val="1E8E4E"/>
      </a:accent3>
      <a:accent4>
        <a:srgbClr val="C62828"/>
      </a:accent4>
      <a:accent5>
        <a:srgbClr val="5B6F80"/>
      </a:accent5>
      <a:accent6>
        <a:srgbClr val="DCEBF5"/>
      </a:accent6>
      <a:hlink>
        <a:srgbClr val="0B3C5D"/>
      </a:hlink>
      <a:folHlink>
        <a:srgbClr val="5B6F80"/>
      </a:folHlink>
    </a:clrScheme>
    <a:fontScheme name="EduAg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643</Words>
  <Application>Microsoft Office PowerPoint</Application>
  <PresentationFormat>Affichage à l'écran (16:9)</PresentationFormat>
  <Paragraphs>134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Arial</vt:lpstr>
      <vt:lpstr>EduAgent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EduAgent — Jour 24</dc:title>
  <dc:subject>PptxGenJS Presentation</dc:subject>
  <dc:creator>Kamal</dc:creator>
  <cp:lastModifiedBy>Kamal EL AFOUI</cp:lastModifiedBy>
  <cp:revision>2</cp:revision>
  <dcterms:created xsi:type="dcterms:W3CDTF">2026-10-29T20:04:56Z</dcterms:created>
  <dcterms:modified xsi:type="dcterms:W3CDTF">2026-10-29T21:19:17Z</dcterms:modified>
</cp:coreProperties>
</file>